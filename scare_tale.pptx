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C86777-843E-47E4-A180-BC7E6D9598A0}" v="269" dt="2026-02-08T22:53:54.140"/>
    <p1510:client id="{B38A4863-9455-4384-8935-6DD2BA4F2745}" v="10" dt="2026-02-08T22:07:50.6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CA919CF-5BCB-4127-8E14-876C70A19139}"/>
              </a:ext>
            </a:extLst>
          </p:cNvPr>
          <p:cNvSpPr>
            <a:spLocks noGrp="1"/>
          </p:cNvSpPr>
          <p:nvPr/>
        </p:nvSpPr>
        <p:spPr>
          <a:xfrm>
            <a:off x="4819767" y="6110442"/>
            <a:ext cx="6536747" cy="5461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b="1">
                <a:ea typeface="+mn-lt"/>
                <a:cs typeface="+mn-lt"/>
              </a:rPr>
              <a:t>Авторы:</a:t>
            </a:r>
            <a:r>
              <a:rPr lang="ru-RU">
                <a:ea typeface="+mn-lt"/>
                <a:cs typeface="+mn-lt"/>
              </a:rPr>
              <a:t> Воропаев Артём и Кузнецов Максим.</a:t>
            </a:r>
            <a:endParaRPr lang="ru-RU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endParaRPr lang="ru-RU"/>
          </a:p>
          <a:p>
            <a:endParaRPr lang="ru-RU" dirty="0">
              <a:ea typeface="Calibri"/>
              <a:cs typeface="Calibri"/>
            </a:endParaRPr>
          </a:p>
        </p:txBody>
      </p:sp>
      <p:pic>
        <p:nvPicPr>
          <p:cNvPr id="5" name="Рисунок 4" descr="Изображение выглядит как темнота, аниме, на открытом воздухе, силуэ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769D6AC-97DE-B6D0-C650-ACD8DA8CAB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51" b="-162"/>
          <a:stretch>
            <a:fillRect/>
          </a:stretch>
        </p:blipFill>
        <p:spPr>
          <a:xfrm>
            <a:off x="-1240" y="738652"/>
            <a:ext cx="12231843" cy="5095728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5A342B6-92C8-4F2C-9F6D-B8ACADD08D2E}"/>
              </a:ext>
            </a:extLst>
          </p:cNvPr>
          <p:cNvSpPr>
            <a:spLocks noGrp="1"/>
          </p:cNvSpPr>
          <p:nvPr/>
        </p:nvSpPr>
        <p:spPr>
          <a:xfrm>
            <a:off x="625668" y="3572821"/>
            <a:ext cx="6536747" cy="174567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7200" err="1">
                <a:solidFill>
                  <a:schemeClr val="bg1"/>
                </a:solidFill>
                <a:latin typeface="Comic Sans MS"/>
                <a:ea typeface="PMingLiU-ExtB"/>
                <a:cs typeface="Calibri"/>
              </a:rPr>
              <a:t>Scary</a:t>
            </a:r>
            <a:r>
              <a:rPr lang="ru-RU" sz="7200" dirty="0">
                <a:solidFill>
                  <a:schemeClr val="bg1"/>
                </a:solidFill>
                <a:latin typeface="Comic Sans MS"/>
                <a:ea typeface="PMingLiU-ExtB"/>
                <a:cs typeface="Calibri"/>
              </a:rPr>
              <a:t> </a:t>
            </a:r>
            <a:r>
              <a:rPr lang="ru-RU" sz="7200" err="1">
                <a:solidFill>
                  <a:schemeClr val="bg1"/>
                </a:solidFill>
                <a:latin typeface="Comic Sans MS"/>
                <a:ea typeface="PMingLiU-ExtB"/>
                <a:cs typeface="Calibri"/>
              </a:rPr>
              <a:t>tale</a:t>
            </a:r>
            <a:endParaRPr lang="ru-RU" sz="7200">
              <a:solidFill>
                <a:schemeClr val="bg1"/>
              </a:solidFill>
              <a:latin typeface="Comic Sans MS"/>
              <a:ea typeface="PMingLiU-ExtB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5FDF77-B5F2-76C9-B615-5C76C16F9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A4CEAF-F9AB-EDE2-DA5D-CDA3E577A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 descr="Изображение выглядит как дерево, мультфильм, аниме, ноч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A468F51-3778-953C-DC02-2DE70C5A8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5" y="-3432"/>
            <a:ext cx="12197491" cy="7613135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F7CC7DC2-12CF-4928-A4E4-8D979EAE3E6D}"/>
              </a:ext>
            </a:extLst>
          </p:cNvPr>
          <p:cNvSpPr>
            <a:spLocks noGrp="1"/>
          </p:cNvSpPr>
          <p:nvPr/>
        </p:nvSpPr>
        <p:spPr>
          <a:xfrm>
            <a:off x="-2067" y="95336"/>
            <a:ext cx="1219106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0" dirty="0">
                <a:solidFill>
                  <a:schemeClr val="bg1"/>
                </a:solidFill>
                <a:latin typeface="Comic Sans MS"/>
                <a:ea typeface="+mj-lt"/>
                <a:cs typeface="+mj-lt"/>
              </a:rPr>
              <a:t>Концепция и атмосфера</a:t>
            </a:r>
            <a:endParaRPr lang="ru-RU" dirty="0">
              <a:solidFill>
                <a:schemeClr val="bg1"/>
              </a:solidFill>
              <a:latin typeface="Comic Sans MS"/>
            </a:endParaRP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17E72134-208E-4A25-B10D-1D5493B35925}"/>
              </a:ext>
            </a:extLst>
          </p:cNvPr>
          <p:cNvSpPr>
            <a:spLocks noGrp="1"/>
          </p:cNvSpPr>
          <p:nvPr/>
        </p:nvSpPr>
        <p:spPr>
          <a:xfrm>
            <a:off x="308796" y="1419422"/>
            <a:ext cx="7518712" cy="14269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ea typeface="+mn-lt"/>
                <a:cs typeface="+mn-lt"/>
              </a:rPr>
              <a:t>Цель</a:t>
            </a:r>
            <a:r>
              <a:rPr lang="en-US" b="1" dirty="0">
                <a:solidFill>
                  <a:schemeClr val="bg1"/>
                </a:solidFill>
                <a:ea typeface="+mn-lt"/>
                <a:cs typeface="+mn-lt"/>
              </a:rPr>
              <a:t>: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Создать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игру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с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гнетущей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сказочной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атмосферой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,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где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игроку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нужно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решать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пространственные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 </a:t>
            </a:r>
            <a:r>
              <a:rPr lang="en-US" err="1">
                <a:solidFill>
                  <a:schemeClr val="bg1"/>
                </a:solidFill>
                <a:ea typeface="+mn-lt"/>
                <a:cs typeface="+mn-lt"/>
              </a:rPr>
              <a:t>задачи</a:t>
            </a:r>
            <a:r>
              <a:rPr lang="en-US" dirty="0">
                <a:solidFill>
                  <a:schemeClr val="bg1"/>
                </a:solidFill>
                <a:ea typeface="+mn-lt"/>
                <a:cs typeface="+mn-lt"/>
              </a:rPr>
              <a:t>.</a:t>
            </a:r>
            <a:endParaRPr lang="ru-RU" dirty="0">
              <a:solidFill>
                <a:schemeClr val="bg1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solidFill>
                <a:srgbClr val="262626"/>
              </a:solidFill>
              <a:ea typeface="+mn-lt"/>
              <a:cs typeface="+mn-lt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821E7DD-748F-DEF1-92B1-8B877F2F9A49}"/>
              </a:ext>
            </a:extLst>
          </p:cNvPr>
          <p:cNvSpPr txBox="1"/>
          <p:nvPr/>
        </p:nvSpPr>
        <p:spPr>
          <a:xfrm>
            <a:off x="1009135" y="3744784"/>
            <a:ext cx="7771027" cy="3062377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ts val="4200"/>
              </a:lnSpc>
            </a:pPr>
            <a:r>
              <a:rPr lang="en-US" sz="2800" b="1" baseline="0" dirty="0" err="1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Особенности</a:t>
            </a:r>
            <a:r>
              <a:rPr lang="en-US" sz="2800" b="1" baseline="0" dirty="0">
                <a:solidFill>
                  <a:srgbClr val="FFFFFF"/>
                </a:solidFill>
                <a:latin typeface="Calibri"/>
                <a:ea typeface="Segoe UI"/>
                <a:cs typeface="Segoe UI"/>
              </a:rPr>
              <a:t>:</a:t>
            </a:r>
            <a:r>
              <a:rPr lang="en-US" sz="2800" dirty="0">
                <a:latin typeface="Calibri"/>
                <a:ea typeface="Segoe UI"/>
                <a:cs typeface="Segoe UI"/>
              </a:rPr>
              <a:t>​</a:t>
            </a:r>
          </a:p>
          <a:p>
            <a:pPr marL="228600" lvl="0" indent="-228600" rtl="0">
              <a:lnSpc>
                <a:spcPts val="4200"/>
              </a:lnSpc>
              <a:buFont typeface="Arial,Sans-Serif"/>
              <a:buChar char="•"/>
            </a:pP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Стилизованная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графика</a:t>
            </a:r>
            <a:r>
              <a:rPr lang="en-US" sz="280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.</a:t>
            </a:r>
            <a:r>
              <a:rPr lang="en-US" sz="2800" dirty="0">
                <a:latin typeface="Calibri"/>
                <a:ea typeface="Arial"/>
                <a:cs typeface="Arial"/>
              </a:rPr>
              <a:t>​</a:t>
            </a:r>
          </a:p>
          <a:p>
            <a:pPr marL="228600" lvl="0" indent="-228600" rtl="0">
              <a:lnSpc>
                <a:spcPts val="4200"/>
              </a:lnSpc>
              <a:buFont typeface="Arial,Sans-Serif"/>
              <a:buChar char="•"/>
            </a:pP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Система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«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стелс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» (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механика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пряток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в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кустах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).</a:t>
            </a:r>
            <a:r>
              <a:rPr lang="en-US" sz="2800" dirty="0">
                <a:latin typeface="Calibri"/>
                <a:ea typeface="Arial"/>
                <a:cs typeface="Arial"/>
              </a:rPr>
              <a:t>​</a:t>
            </a:r>
          </a:p>
          <a:p>
            <a:pPr marL="228600" lvl="0" indent="-228600" rtl="0">
              <a:lnSpc>
                <a:spcPts val="4200"/>
              </a:lnSpc>
              <a:buFont typeface="Arial,Sans-Serif"/>
              <a:buChar char="•"/>
            </a:pP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Интерактивные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объекты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(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рычаги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,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инвентарь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).</a:t>
            </a:r>
            <a:r>
              <a:rPr lang="en-US" sz="2800" dirty="0">
                <a:latin typeface="Calibri"/>
                <a:ea typeface="Arial"/>
                <a:cs typeface="Arial"/>
              </a:rPr>
              <a:t>​</a:t>
            </a:r>
          </a:p>
          <a:p>
            <a:pPr marL="228600" lvl="0" indent="-228600" rtl="0">
              <a:lnSpc>
                <a:spcPts val="4200"/>
              </a:lnSpc>
              <a:buFont typeface="Arial,Sans-Serif"/>
              <a:buChar char="•"/>
            </a:pP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Динамическое</a:t>
            </a:r>
            <a:r>
              <a:rPr lang="en-US" sz="2800" baseline="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 </a:t>
            </a:r>
            <a:r>
              <a:rPr lang="en-US" sz="2800" baseline="0" dirty="0" err="1">
                <a:solidFill>
                  <a:srgbClr val="FFFFFF"/>
                </a:solidFill>
                <a:latin typeface="Calibri"/>
                <a:ea typeface="Arial"/>
                <a:cs typeface="Arial"/>
              </a:rPr>
              <a:t>окружение</a:t>
            </a:r>
            <a:r>
              <a:rPr lang="en-US" sz="2800" dirty="0">
                <a:solidFill>
                  <a:srgbClr val="FFFFFF"/>
                </a:solidFill>
                <a:latin typeface="Calibri"/>
                <a:ea typeface="Arial"/>
                <a:cs typeface="Arial"/>
              </a:rPr>
              <a:t>.</a:t>
            </a:r>
            <a:endParaRPr lang="en-US" sz="2800" baseline="0" dirty="0">
              <a:solidFill>
                <a:srgbClr val="FFFFFF"/>
              </a:solidFill>
              <a:latin typeface="Calibri"/>
              <a:ea typeface="Arial"/>
              <a:cs typeface="Arial"/>
            </a:endParaRPr>
          </a:p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135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Изображение выглядит как текст, снимок экрана, компьютер, искус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4B0AE9D-794B-2736-ED5D-BE5B2D906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2" y="2"/>
            <a:ext cx="12194744" cy="76131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968CF7-8F09-C1B8-19F3-51B7828DFF36}"/>
              </a:ext>
            </a:extLst>
          </p:cNvPr>
          <p:cNvSpPr txBox="1"/>
          <p:nvPr/>
        </p:nvSpPr>
        <p:spPr>
          <a:xfrm>
            <a:off x="3940432" y="130432"/>
            <a:ext cx="4908378" cy="10709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A01263-1BFA-67CE-D0ED-7B1F8B9414DE}"/>
              </a:ext>
            </a:extLst>
          </p:cNvPr>
          <p:cNvSpPr txBox="1"/>
          <p:nvPr/>
        </p:nvSpPr>
        <p:spPr>
          <a:xfrm>
            <a:off x="0" y="0"/>
            <a:ext cx="1219199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Comic Sans MS"/>
                <a:ea typeface="+mn-lt"/>
                <a:cs typeface="+mn-lt"/>
              </a:rPr>
              <a:t>Распределение ролей</a:t>
            </a:r>
            <a:endParaRPr lang="ru-RU" sz="4400" dirty="0">
              <a:solidFill>
                <a:schemeClr val="bg1"/>
              </a:solidFill>
              <a:latin typeface="Comic Sans M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D3C89B-6D98-A682-4FAB-6D06AABF466A}"/>
              </a:ext>
            </a:extLst>
          </p:cNvPr>
          <p:cNvSpPr txBox="1"/>
          <p:nvPr/>
        </p:nvSpPr>
        <p:spPr>
          <a:xfrm>
            <a:off x="116703" y="772297"/>
            <a:ext cx="4997622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err="1">
                <a:solidFill>
                  <a:schemeClr val="bg1"/>
                </a:solidFill>
              </a:rPr>
              <a:t>Воропаев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b="1" err="1">
                <a:solidFill>
                  <a:schemeClr val="bg1"/>
                </a:solidFill>
              </a:rPr>
              <a:t>Артём</a:t>
            </a:r>
            <a:r>
              <a:rPr lang="en-US" sz="2400" b="1" dirty="0">
                <a:solidFill>
                  <a:schemeClr val="bg1"/>
                </a:solidFill>
              </a:rPr>
              <a:t>:</a:t>
            </a:r>
          </a:p>
          <a:p>
            <a:endParaRPr lang="en-US" sz="2400" b="1" dirty="0">
              <a:solidFill>
                <a:schemeClr val="bg1"/>
              </a:solidFill>
            </a:endParaRPr>
          </a:p>
          <a:p>
            <a:pPr marL="228600" indent="-228600">
              <a:buFont typeface=""/>
              <a:buChar char="•"/>
            </a:pPr>
            <a:r>
              <a:rPr lang="en-US" sz="2000" err="1">
                <a:solidFill>
                  <a:schemeClr val="bg1"/>
                </a:solidFill>
              </a:rPr>
              <a:t>Разработка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базовой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логики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движка</a:t>
            </a:r>
            <a:r>
              <a:rPr lang="en-US" sz="2000" dirty="0">
                <a:solidFill>
                  <a:schemeClr val="bg1"/>
                </a:solidFill>
              </a:rPr>
              <a:t> и </a:t>
            </a:r>
            <a:r>
              <a:rPr lang="en-US" sz="2000" err="1">
                <a:solidFill>
                  <a:schemeClr val="bg1"/>
                </a:solidFill>
              </a:rPr>
              <a:t>игровых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состояний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  <a:p>
            <a:pPr marL="228600" indent="-228600">
              <a:buFont typeface=""/>
              <a:buChar char="•"/>
            </a:pPr>
            <a:r>
              <a:rPr lang="en-US" sz="2000" err="1">
                <a:solidFill>
                  <a:schemeClr val="bg1"/>
                </a:solidFill>
              </a:rPr>
              <a:t>Реализация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первой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концепции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игры</a:t>
            </a:r>
            <a:r>
              <a:rPr lang="en-US" sz="2000" dirty="0">
                <a:solidFill>
                  <a:schemeClr val="bg1"/>
                </a:solidFill>
              </a:rPr>
              <a:t> (в </a:t>
            </a:r>
            <a:r>
              <a:rPr lang="en-US" sz="2000" err="1">
                <a:solidFill>
                  <a:schemeClr val="bg1"/>
                </a:solidFill>
              </a:rPr>
              <a:t>сеттинге</a:t>
            </a:r>
            <a:r>
              <a:rPr lang="en-US" sz="2000" dirty="0">
                <a:solidFill>
                  <a:schemeClr val="bg1"/>
                </a:solidFill>
              </a:rPr>
              <a:t> «</a:t>
            </a:r>
            <a:r>
              <a:rPr lang="en-US" sz="2000" err="1">
                <a:solidFill>
                  <a:schemeClr val="bg1"/>
                </a:solidFill>
              </a:rPr>
              <a:t>Космос</a:t>
            </a:r>
            <a:r>
              <a:rPr lang="en-US" sz="2000" dirty="0">
                <a:solidFill>
                  <a:schemeClr val="bg1"/>
                </a:solidFill>
              </a:rPr>
              <a:t>»).</a:t>
            </a:r>
          </a:p>
          <a:p>
            <a:pPr marL="228600" indent="-228600">
              <a:buFont typeface=""/>
              <a:buChar char="•"/>
            </a:pPr>
            <a:r>
              <a:rPr lang="en-US" sz="2000" err="1">
                <a:solidFill>
                  <a:schemeClr val="bg1"/>
                </a:solidFill>
              </a:rPr>
              <a:t>Работа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над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архитектурой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взаимодействия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err="1">
                <a:solidFill>
                  <a:schemeClr val="bg1"/>
                </a:solidFill>
              </a:rPr>
              <a:t>объектов</a:t>
            </a:r>
            <a:r>
              <a:rPr lang="en-US" sz="2000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3C507E-36D5-CD8E-BCC7-C003E5661273}"/>
              </a:ext>
            </a:extLst>
          </p:cNvPr>
          <p:cNvSpPr txBox="1"/>
          <p:nvPr/>
        </p:nvSpPr>
        <p:spPr>
          <a:xfrm>
            <a:off x="6096000" y="3909541"/>
            <a:ext cx="5581136" cy="30623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3000"/>
              </a:lnSpc>
            </a:pPr>
            <a:r>
              <a:rPr lang="en-US" sz="2400" b="1" baseline="0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Кузнецов </a:t>
            </a:r>
            <a:r>
              <a:rPr lang="en-US" sz="2400" b="1" baseline="0" err="1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Максим</a:t>
            </a:r>
            <a:r>
              <a:rPr lang="en-US" sz="2400" b="1" baseline="0" dirty="0">
                <a:solidFill>
                  <a:srgbClr val="FFFFFF"/>
                </a:solidFill>
                <a:latin typeface="Aptos"/>
                <a:ea typeface="Segoe UI"/>
                <a:cs typeface="Segoe UI"/>
              </a:rPr>
              <a:t>:</a:t>
            </a:r>
            <a:r>
              <a:rPr lang="en-US" sz="2400" dirty="0">
                <a:latin typeface="Aptos"/>
                <a:ea typeface="Segoe UI"/>
                <a:cs typeface="Segoe UI"/>
              </a:rPr>
              <a:t>​</a:t>
            </a:r>
          </a:p>
          <a:p>
            <a:pPr>
              <a:lnSpc>
                <a:spcPts val="3000"/>
              </a:lnSpc>
            </a:pPr>
            <a:endParaRPr lang="en-US" sz="2400" dirty="0">
              <a:solidFill>
                <a:srgbClr val="000000"/>
              </a:solidFill>
              <a:latin typeface="Aptos"/>
              <a:ea typeface="Arial"/>
              <a:cs typeface="Segoe UI"/>
            </a:endParaRPr>
          </a:p>
          <a:p>
            <a:pPr marL="228600" lvl="0" indent="-228600" rtl="0">
              <a:lnSpc>
                <a:spcPts val="3000"/>
              </a:lnSpc>
              <a:buFont typeface=""/>
              <a:buChar char="•"/>
            </a:pP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Разработка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визуального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стиля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и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графических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элементов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(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Мрачная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сказка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).</a:t>
            </a:r>
            <a:r>
              <a:rPr lang="en-US" sz="2000" dirty="0">
                <a:latin typeface="Aptos"/>
                <a:ea typeface="Arial"/>
                <a:cs typeface="Arial"/>
              </a:rPr>
              <a:t>​</a:t>
            </a:r>
          </a:p>
          <a:p>
            <a:pPr marL="228600" lvl="0" indent="-228600" rtl="0">
              <a:lnSpc>
                <a:spcPts val="3000"/>
              </a:lnSpc>
              <a:buFont typeface=""/>
              <a:buChar char="•"/>
            </a:pP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Реализация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механик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стелса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и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освещения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.</a:t>
            </a:r>
            <a:r>
              <a:rPr lang="en-US" sz="2000" dirty="0">
                <a:latin typeface="Aptos"/>
                <a:ea typeface="Arial"/>
                <a:cs typeface="Arial"/>
              </a:rPr>
              <a:t>​</a:t>
            </a:r>
          </a:p>
          <a:p>
            <a:pPr marL="228600" lvl="0" indent="-228600" rtl="0">
              <a:lnSpc>
                <a:spcPts val="3000"/>
              </a:lnSpc>
              <a:buFont typeface=""/>
              <a:buChar char="•"/>
            </a:pP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Сборка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финальной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версии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проекта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и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подготовка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 </a:t>
            </a:r>
            <a:r>
              <a:rPr lang="en-US" sz="2000" baseline="0" err="1">
                <a:solidFill>
                  <a:srgbClr val="FFFFFF"/>
                </a:solidFill>
                <a:latin typeface="Aptos"/>
                <a:ea typeface="Arial"/>
                <a:cs typeface="Arial"/>
              </a:rPr>
              <a:t>презентации</a:t>
            </a:r>
            <a:r>
              <a:rPr lang="en-US" sz="2000" baseline="0" dirty="0">
                <a:solidFill>
                  <a:srgbClr val="FFFFFF"/>
                </a:solidFill>
                <a:latin typeface="Aptos"/>
                <a:ea typeface="Arial"/>
                <a:cs typeface="Arial"/>
              </a:rPr>
              <a:t>.</a:t>
            </a:r>
          </a:p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7D16C3-EAB3-E60E-21F9-C297AD3E1E6D}"/>
              </a:ext>
            </a:extLst>
          </p:cNvPr>
          <p:cNvSpPr txBox="1"/>
          <p:nvPr/>
        </p:nvSpPr>
        <p:spPr>
          <a:xfrm>
            <a:off x="7489568" y="2196756"/>
            <a:ext cx="1922162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</a:rPr>
              <a:t>наши мысли</a:t>
            </a:r>
          </a:p>
        </p:txBody>
      </p:sp>
    </p:spTree>
    <p:extLst>
      <p:ext uri="{BB962C8B-B14F-4D97-AF65-F5344CB8AC3E}">
        <p14:creationId xmlns:p14="http://schemas.microsoft.com/office/powerpoint/2010/main" val="2256789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ерево, мультфильм, искусство, Цифровая сбор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D7C7EA-8790-35C7-C54E-4061899706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9" y="-89828"/>
            <a:ext cx="12194477" cy="76076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EDC3B88-5566-0320-4377-BAB18F96A479}"/>
              </a:ext>
            </a:extLst>
          </p:cNvPr>
          <p:cNvSpPr txBox="1"/>
          <p:nvPr/>
        </p:nvSpPr>
        <p:spPr>
          <a:xfrm>
            <a:off x="0" y="-89245"/>
            <a:ext cx="12191998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4400" dirty="0">
                <a:solidFill>
                  <a:schemeClr val="bg1"/>
                </a:solidFill>
                <a:latin typeface="Comic Sans MS"/>
                <a:ea typeface="+mn-lt"/>
                <a:cs typeface="+mn-lt"/>
              </a:rPr>
              <a:t>Техническая реализация</a:t>
            </a:r>
            <a:endParaRPr lang="ru-RU" sz="4400" dirty="0">
              <a:solidFill>
                <a:schemeClr val="bg1"/>
              </a:solidFill>
              <a:latin typeface="Comic Sans M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A013FF-644A-C293-347B-1CF44561DD65}"/>
              </a:ext>
            </a:extLst>
          </p:cNvPr>
          <p:cNvSpPr txBox="1"/>
          <p:nvPr/>
        </p:nvSpPr>
        <p:spPr>
          <a:xfrm>
            <a:off x="233405" y="2800864"/>
            <a:ext cx="882135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buFont typeface="Arial"/>
              <a:buChar char="•"/>
            </a:pPr>
            <a:r>
              <a:rPr lang="ru-RU" sz="2400" b="1" dirty="0">
                <a:solidFill>
                  <a:schemeClr val="bg1"/>
                </a:solidFill>
                <a:ea typeface="+mn-lt"/>
                <a:cs typeface="+mn-lt"/>
              </a:rPr>
              <a:t>Архитектура: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 Использование ООП и классов </a:t>
            </a:r>
            <a:r>
              <a:rPr lang="ru-RU" sz="2400" dirty="0">
                <a:solidFill>
                  <a:schemeClr val="bg1"/>
                </a:solidFill>
                <a:latin typeface="Consolas"/>
              </a:rPr>
              <a:t>View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 для разделения меню, интро и самих уровней.</a:t>
            </a:r>
            <a:endParaRPr lang="ru-RU" sz="2400" dirty="0">
              <a:solidFill>
                <a:schemeClr val="bg1"/>
              </a:solidFill>
            </a:endParaRPr>
          </a:p>
          <a:p>
            <a:pPr marL="285750" indent="-285750" algn="just">
              <a:buFont typeface="Arial"/>
              <a:buChar char="•"/>
            </a:pPr>
            <a:r>
              <a:rPr lang="ru-RU" sz="2400" b="1" dirty="0">
                <a:solidFill>
                  <a:schemeClr val="bg1"/>
                </a:solidFill>
                <a:ea typeface="+mn-lt"/>
                <a:cs typeface="+mn-lt"/>
              </a:rPr>
              <a:t>Сохранения: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 Реализована работа с файлами </a:t>
            </a:r>
            <a:r>
              <a:rPr lang="ru-RU" sz="2400" dirty="0">
                <a:solidFill>
                  <a:schemeClr val="bg1"/>
                </a:solidFill>
                <a:latin typeface="Consolas"/>
              </a:rPr>
              <a:t>JSON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 для отслеживания прогресса игрока и разблокировки уровней.</a:t>
            </a:r>
            <a:endParaRPr lang="ru-RU" sz="2400" dirty="0">
              <a:solidFill>
                <a:schemeClr val="bg1"/>
              </a:solidFill>
            </a:endParaRPr>
          </a:p>
          <a:p>
            <a:pPr marL="285750" indent="-285750" algn="just">
              <a:buFont typeface="Arial"/>
              <a:buChar char="•"/>
            </a:pPr>
            <a:r>
              <a:rPr lang="ru-RU" sz="2400" b="1" dirty="0">
                <a:solidFill>
                  <a:schemeClr val="bg1"/>
                </a:solidFill>
                <a:ea typeface="+mn-lt"/>
                <a:cs typeface="+mn-lt"/>
              </a:rPr>
              <a:t>Математика: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 Применение тригонометрии (</a:t>
            </a:r>
            <a:r>
              <a:rPr lang="ru-RU" sz="2400" err="1">
                <a:solidFill>
                  <a:schemeClr val="bg1"/>
                </a:solidFill>
                <a:latin typeface="Consolas"/>
              </a:rPr>
              <a:t>math.sin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, </a:t>
            </a:r>
            <a:r>
              <a:rPr lang="ru-RU" sz="2400" err="1">
                <a:solidFill>
                  <a:schemeClr val="bg1"/>
                </a:solidFill>
                <a:latin typeface="Consolas"/>
              </a:rPr>
              <a:t>math.cos</a:t>
            </a:r>
            <a:r>
              <a:rPr lang="ru-RU" sz="2400" dirty="0">
                <a:solidFill>
                  <a:schemeClr val="bg1"/>
                </a:solidFill>
                <a:ea typeface="+mn-lt"/>
                <a:cs typeface="+mn-lt"/>
              </a:rPr>
              <a:t>) для плавной анимации «живого» мира и движения монстра.</a:t>
            </a:r>
            <a:endParaRPr lang="ru-RU" sz="2400" dirty="0">
              <a:solidFill>
                <a:schemeClr val="bg1"/>
              </a:solidFill>
            </a:endParaRPr>
          </a:p>
          <a:p>
            <a:pPr algn="l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42706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CEFEDF-F81F-C895-4EB5-2D2596DDC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>
                <a:solidFill>
                  <a:srgbClr val="FFFFFF"/>
                </a:solidFill>
              </a:rPr>
              <a:t>Спасибо за внимание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Рисунок 4" descr="Изображение выглядит как текст, снимок экрана, графический дизайн, Цифровая сбор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5F935E-5C6B-DB73-DE12-F96FEDB0FD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967" t="74675" r="501" b="9610"/>
          <a:stretch>
            <a:fillRect/>
          </a:stretch>
        </p:blipFill>
        <p:spPr>
          <a:xfrm>
            <a:off x="1381935" y="2669092"/>
            <a:ext cx="4481866" cy="2165025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графический дизайн, Цифровая сбор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72AB7EA-8334-09B1-486C-BEA91076D3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4364" r="66836" b="10132"/>
          <a:stretch>
            <a:fillRect/>
          </a:stretch>
        </p:blipFill>
        <p:spPr>
          <a:xfrm>
            <a:off x="6336995" y="2668560"/>
            <a:ext cx="4575457" cy="2165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1465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110</cp:revision>
  <dcterms:created xsi:type="dcterms:W3CDTF">2026-02-08T21:49:48Z</dcterms:created>
  <dcterms:modified xsi:type="dcterms:W3CDTF">2026-02-08T22:54:34Z</dcterms:modified>
</cp:coreProperties>
</file>